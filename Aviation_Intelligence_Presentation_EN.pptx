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kran görüntüsü 2026-03-15 0526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3492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AVIATION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6188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AF37"/>
                </a:solidFill>
                <a:latin typeface="Calibri"/>
              </a:rPr>
              <a:t>Data-Driven Analysis of the Global Aviation Industry  —  Data Analytics Final Project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5989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Tural Burjaliyev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92240"/>
            <a:ext cx="109728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AVIATION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4864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F37"/>
                </a:solidFill>
                <a:latin typeface="Calibri"/>
              </a:rPr>
              <a:t>Data-Driven Analysis of the Global Aviation Industry  |  Data Analytics Final Project —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164592"/>
            <a:ext cx="1508760" cy="502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2011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D4A"/>
                </a:solidFill>
                <a:latin typeface="Calibri"/>
              </a:rPr>
              <a:t>SLIDE  2  /  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51560"/>
            <a:ext cx="1175004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43000"/>
            <a:ext cx="5303520" cy="2240280"/>
          </a:xfrm>
          <a:prstGeom prst="rect">
            <a:avLst/>
          </a:prstGeom>
          <a:solidFill>
            <a:srgbClr val="FAF6EE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170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D4A"/>
                </a:solidFill>
                <a:latin typeface="Calibri"/>
              </a:rPr>
              <a:t>  PROBLEM STATEMENT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463040"/>
            <a:ext cx="512064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536192"/>
            <a:ext cx="50749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The aviation sector generates $67+ billion in total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revenue yet remains financially volatile and high-risk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Fuel cost fluctuations &amp; fleet management pose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critical strategic challenges for airlines worldwide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The 'Aging Paradox': older fleets drive higher costs,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yet some carriers offset this through high profitability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Investors struggle to assess genuine financial value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due to limited transparency across the sector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42432" y="1143000"/>
            <a:ext cx="6217920" cy="2240280"/>
          </a:xfrm>
          <a:prstGeom prst="rect">
            <a:avLst/>
          </a:prstGeom>
          <a:solidFill>
            <a:srgbClr val="FAF6EE"/>
          </a:solidFill>
          <a:ln w="15240">
            <a:solidFill>
              <a:srgbClr val="2E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1170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D4A"/>
                </a:solidFill>
                <a:latin typeface="Calibri"/>
              </a:rPr>
              <a:t>  ANALYSIS OBJECTIVES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33872" y="1463040"/>
            <a:ext cx="6035040" cy="22860"/>
          </a:xfrm>
          <a:prstGeom prst="rect">
            <a:avLst/>
          </a:prstGeom>
          <a:solidFill>
            <a:srgbClr val="2E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1536192"/>
            <a:ext cx="5989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Comparative analysis of airline financial performance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Uncover correlation between oil prices and airline stocks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Identify the link between fleet age, fuel efficiency &amp; profit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Detect financially undervalued (hidden gem) carriers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Generate deep insights via a 7-page interactive Power BI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D4A"/>
                </a:solidFill>
                <a:latin typeface="Calibri"/>
              </a:rPr>
              <a:t>  TARGET AUDIENCE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813048"/>
            <a:ext cx="548640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28600" y="3886200"/>
          <a:ext cx="54864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Use Case</a:t>
                      </a:r>
                    </a:p>
                  </a:txBody>
                  <a:tcPr>
                    <a:solidFill>
                      <a:srgbClr val="1A2D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Aviation Analysts</a:t>
                      </a:r>
                    </a:p>
                  </a:txBody>
                  <a:tcPr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Fleet performance &amp; technical comparison</a:t>
                      </a:r>
                    </a:p>
                  </a:txBody>
                  <a:tcPr>
                    <a:solidFill>
                      <a:srgbClr val="FAF6E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Financial Investors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Stock valuation &amp; P/E ratio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Airline Executives</a:t>
                      </a:r>
                    </a:p>
                  </a:txBody>
                  <a:tcPr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Operational efficiency improvement</a:t>
                      </a:r>
                    </a:p>
                  </a:txBody>
                  <a:tcPr>
                    <a:solidFill>
                      <a:srgbClr val="FAF6E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Researchers &amp; Students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Academic study of the aviation sector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989320" y="3520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D4A"/>
                </a:solidFill>
                <a:latin typeface="Calibri"/>
              </a:rPr>
              <a:t>  KEY RESEARCH QUESTIONS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3813048"/>
            <a:ext cx="598932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3913632"/>
            <a:ext cx="5989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Q1  What effect does fleet age have on profitability?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Q2  How do rising oil prices impact airline stock performance?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Q3  Which airline achieves the highest fuel efficiency?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Q4  Which carriers are financially strong but undervalued by the market?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B2B2B"/>
                </a:solidFill>
                <a:latin typeface="Calibri"/>
              </a:rPr>
              <a:t>Q5  Are future fleet orders aligned with each airline's financial capacity?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AF37"/>
                </a:solidFill>
                <a:latin typeface="Calibri"/>
              </a:rPr>
              <a:t>Tural Burjaliyev  |  Aviation Intelligence Dashboard  |  Power BI &amp; 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Data Analytics Final Project —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METHODOLOGY, DATA &amp;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4864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F37"/>
                </a:solidFill>
                <a:latin typeface="Calibri"/>
              </a:rPr>
              <a:t>Data Pipeline, Technologies Used &amp; Dataset Statistics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164592"/>
            <a:ext cx="1508760" cy="502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2011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D4A"/>
                </a:solidFill>
                <a:latin typeface="Calibri"/>
              </a:rPr>
              <a:t>SLIDE  3  /  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51560"/>
            <a:ext cx="1175004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115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D4A"/>
                </a:solidFill>
                <a:latin typeface="Calibri"/>
              </a:rPr>
              <a:t>  DATA SOURCES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408176"/>
            <a:ext cx="1175004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28600" y="1481328"/>
          <a:ext cx="117500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6680"/>
                <a:gridCol w="3916680"/>
                <a:gridCol w="3916680"/>
              </a:tblGrid>
              <a:tr h="280851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Data Collected</a:t>
                      </a:r>
                    </a:p>
                  </a:txBody>
                  <a:tcPr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A2D4A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planespotters.net</a:t>
                      </a:r>
                    </a:p>
                  </a:txBody>
                  <a:tcPr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Fleet matrix for 50 airlines (613 rows)</a:t>
                      </a:r>
                    </a:p>
                  </a:txBody>
                  <a:tcPr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Web Scraping — SeleniumBase + BeautifulSoup</a:t>
                      </a:r>
                    </a:p>
                  </a:txBody>
                  <a:tcPr>
                    <a:solidFill>
                      <a:srgbClr val="FAF6EE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aerocorner.com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Technical specifications for 54 aircraft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Web Scraping — requests + BeautifulSoup4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Yahoo Finance API</a:t>
                      </a:r>
                    </a:p>
                  </a:txBody>
                  <a:tcPr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Stock history for 27 airlines 2015-2026 (~70K rows)</a:t>
                      </a:r>
                    </a:p>
                  </a:txBody>
                  <a:tcPr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yfinance API</a:t>
                      </a:r>
                    </a:p>
                  </a:txBody>
                  <a:tcPr>
                    <a:solidFill>
                      <a:srgbClr val="FAF6EE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Yahoo Finance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Brent &amp; WTI crude oil prices (~5,600 rows)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yfinance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OpenFlights (GitHub)</a:t>
                      </a:r>
                    </a:p>
                  </a:txBody>
                  <a:tcPr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Metadata for 6,000+ airlines worldwide</a:t>
                      </a:r>
                    </a:p>
                  </a:txBody>
                  <a:tcPr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pandas.read_csv(url)</a:t>
                      </a:r>
                    </a:p>
                  </a:txBody>
                  <a:tcPr>
                    <a:solidFill>
                      <a:srgbClr val="FAF6EE"/>
                    </a:solidFill>
                  </a:tcPr>
                </a:tc>
              </a:tr>
              <a:tr h="28085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Yahoo Finance — Fin.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Revenue, profit, debt, EBITDA per airline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yfinance Fundamental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28600" y="3611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D4A"/>
                </a:solidFill>
                <a:latin typeface="Calibri"/>
              </a:rPr>
              <a:t>  TOOLS &amp; TECHNOLOGIES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904487"/>
            <a:ext cx="571500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4005072"/>
            <a:ext cx="5715000" cy="2286000"/>
          </a:xfrm>
          <a:prstGeom prst="rect">
            <a:avLst/>
          </a:prstGeom>
          <a:solidFill>
            <a:srgbClr val="FAF6E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4041648"/>
            <a:ext cx="2560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>
                <a:solidFill>
                  <a:srgbClr val="2B2B2B"/>
                </a:solidFill>
                <a:latin typeface="Calibri"/>
              </a:rPr>
              <a:t>DATA COLLECTION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2B2B2B"/>
                </a:solidFill>
                <a:latin typeface="Calibri"/>
              </a:rPr>
              <a:t>• Python 3.11  —  core programming language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2B2B2B"/>
                </a:solidFill>
                <a:latin typeface="Calibri"/>
              </a:rPr>
              <a:t>• yfinance  —  Yahoo Finance API integration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2B2B2B"/>
                </a:solidFill>
                <a:latin typeface="Calibri"/>
              </a:rPr>
              <a:t>• SeleniumBase (UC Mode)  —  anti-bot scraping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2B2B2B"/>
                </a:solidFill>
                <a:latin typeface="Calibri"/>
              </a:rPr>
              <a:t>• BeautifulSoup4  —  HTML parsing &amp; extraction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2B2B2B"/>
                </a:solidFill>
                <a:latin typeface="Calibri"/>
              </a:rPr>
              <a:t>• requests  —  HTTP request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041648"/>
            <a:ext cx="2788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>
                <a:solidFill>
                  <a:srgbClr val="2B2B2B"/>
                </a:solidFill>
                <a:latin typeface="Calibri"/>
              </a:rPr>
              <a:t>ANALYTICS &amp; VISUALISATION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2B2B2B"/>
                </a:solidFill>
                <a:latin typeface="Calibri"/>
              </a:rPr>
              <a:t>• pandas, numpy  —  data processing &amp; engineering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2B2B2B"/>
                </a:solidFill>
                <a:latin typeface="Calibri"/>
              </a:rPr>
              <a:t>• SQL (Oracle)  —  10 analytical VIEWs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2B2B2B"/>
                </a:solidFill>
                <a:latin typeface="Calibri"/>
              </a:rPr>
              <a:t>  (Window Functions, CTEs, JOINs)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2B2B2B"/>
                </a:solidFill>
                <a:latin typeface="Calibri"/>
              </a:rPr>
              <a:t>• Power BI  —  7-page interactive dashboard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2B2B2B"/>
                </a:solidFill>
                <a:latin typeface="Calibri"/>
              </a:rPr>
              <a:t>• Gemini API  —  AI Chatbot 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4069080"/>
            <a:ext cx="18288" cy="21031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611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D4A"/>
                </a:solidFill>
                <a:latin typeface="Calibri"/>
              </a:rPr>
              <a:t>  DATASET STATISTICS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904487"/>
            <a:ext cx="580644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005072"/>
            <a:ext cx="1783080" cy="1005840"/>
          </a:xfrm>
          <a:prstGeom prst="rect">
            <a:avLst/>
          </a:prstGeom>
          <a:solidFill>
            <a:srgbClr val="FAF6EE"/>
          </a:solidFill>
          <a:ln w="1016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0507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D4A"/>
                </a:solidFill>
                <a:latin typeface="Calibri"/>
              </a:rPr>
              <a:t>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535424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5E8E"/>
                </a:solidFill>
                <a:latin typeface="Calibri"/>
              </a:rPr>
              <a:t>CSV Files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4005072"/>
            <a:ext cx="1783080" cy="1005840"/>
          </a:xfrm>
          <a:prstGeom prst="rect">
            <a:avLst/>
          </a:prstGeom>
          <a:solidFill>
            <a:srgbClr val="FAF6EE"/>
          </a:solidFill>
          <a:ln w="1016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40507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D4A"/>
                </a:solidFill>
                <a:latin typeface="Calibri"/>
              </a:rPr>
              <a:t>75K+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535424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5E8E"/>
                </a:solidFill>
                <a:latin typeface="Calibri"/>
              </a:rPr>
              <a:t>Total Rows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12680" y="4005072"/>
            <a:ext cx="1783080" cy="1005840"/>
          </a:xfrm>
          <a:prstGeom prst="rect">
            <a:avLst/>
          </a:prstGeom>
          <a:solidFill>
            <a:srgbClr val="FAF6EE"/>
          </a:solidFill>
          <a:ln w="1016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40507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D4A"/>
                </a:solidFill>
                <a:latin typeface="Calibri"/>
              </a:rPr>
              <a:t>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4535424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5E8E"/>
                </a:solidFill>
                <a:latin typeface="Calibri"/>
              </a:rPr>
              <a:t>Airlines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5175504"/>
            <a:ext cx="1783080" cy="1005840"/>
          </a:xfrm>
          <a:prstGeom prst="rect">
            <a:avLst/>
          </a:prstGeom>
          <a:solidFill>
            <a:srgbClr val="FAF6EE"/>
          </a:solidFill>
          <a:ln w="1016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522122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D4A"/>
                </a:solidFill>
                <a:latin typeface="Calibri"/>
              </a:rPr>
              <a:t>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705856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5E8E"/>
                </a:solidFill>
                <a:latin typeface="Calibri"/>
              </a:rPr>
              <a:t>Aircraft Models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5175504"/>
            <a:ext cx="1783080" cy="1005840"/>
          </a:xfrm>
          <a:prstGeom prst="rect">
            <a:avLst/>
          </a:prstGeom>
          <a:solidFill>
            <a:srgbClr val="FAF6EE"/>
          </a:solidFill>
          <a:ln w="1016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522122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D4A"/>
                </a:solidFill>
                <a:latin typeface="Calibri"/>
              </a:rPr>
              <a:t>11 Yrs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5705856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5E8E"/>
                </a:solidFill>
                <a:latin typeface="Calibri"/>
              </a:rPr>
              <a:t>Time Series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5175504"/>
            <a:ext cx="1783080" cy="1005840"/>
          </a:xfrm>
          <a:prstGeom prst="rect">
            <a:avLst/>
          </a:prstGeom>
          <a:solidFill>
            <a:srgbClr val="FAF6EE"/>
          </a:solidFill>
          <a:ln w="1016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12680" y="522122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D4A"/>
                </a:solidFill>
                <a:latin typeface="Calibri"/>
              </a:rPr>
              <a:t>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5705856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5E8E"/>
                </a:solidFill>
                <a:latin typeface="Calibri"/>
              </a:rPr>
              <a:t>Stock Exchanges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6291072"/>
            <a:ext cx="11750040" cy="38404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631850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F37"/>
                </a:solidFill>
                <a:latin typeface="Calibri"/>
              </a:rPr>
              <a:t>DASHBOARD STRUCTURE: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6318504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Navigation  -&gt;  Overview  -&gt;  Fleet Performance  -&gt;  Financial Summary  -&gt;  Passenger &amp; Cabin Comfort  -&gt;  Market &amp; Stock Trends  -&gt;  Executive Insights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AF37"/>
                </a:solidFill>
                <a:latin typeface="Calibri"/>
              </a:rPr>
              <a:t>Tural Burjaliyev  |  Aviation Intelligence Dashboard  |  Power BI &amp; Python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Data Analytics Final Project —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DATA COLLECTION — WEB SCRAPING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4864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F37"/>
                </a:solidFill>
                <a:latin typeface="Calibri"/>
              </a:rPr>
              <a:t>Live data samples from scraped websites — planespotters.net  &amp;  aerocorner.com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164592"/>
            <a:ext cx="1508760" cy="502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2011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D4A"/>
                </a:solidFill>
                <a:latin typeface="Calibri"/>
              </a:rPr>
              <a:t>SLIDE  4  /  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51560"/>
            <a:ext cx="1175004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1124712"/>
            <a:ext cx="5852160" cy="304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kran görüntüsü 2026-03-15 060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5760720" cy="2542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37490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D4A"/>
                </a:solidFill>
                <a:latin typeface="Calibri"/>
              </a:rPr>
              <a:t>planespotters.net — Airlines directory by country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9048" y="1124712"/>
            <a:ext cx="5852160" cy="304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kran görüntüsü 2026-03-15 0602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170432"/>
            <a:ext cx="5760720" cy="2542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44768" y="37490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D4A"/>
                </a:solidFill>
                <a:latin typeface="Calibri"/>
              </a:rPr>
              <a:t>planespotters.net — AZAL Azerbaijan Airlines fleet matrix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813048"/>
            <a:ext cx="5852160" cy="304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kran görüntüsü 2026-03-15 0603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858768"/>
            <a:ext cx="5760720" cy="2542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8600" y="643737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D4A"/>
                </a:solidFill>
                <a:latin typeface="Calibri"/>
              </a:rPr>
              <a:t>aerocorner.com — Full Airbus aircraft model listing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9048" y="3813048"/>
            <a:ext cx="5852160" cy="304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Ekran görüntüsü 2026-03-15 0603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3858768"/>
            <a:ext cx="5760720" cy="2542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44768" y="643737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D4A"/>
                </a:solidFill>
                <a:latin typeface="Calibri"/>
              </a:rPr>
              <a:t>aerocorner.com — Airbus A220 technical specifications (INFO tab)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43000"/>
            <a:ext cx="18288" cy="53035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767328"/>
            <a:ext cx="1175004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AF37"/>
                </a:solidFill>
                <a:latin typeface="Calibri"/>
              </a:rPr>
              <a:t>Tural Burjaliyev  |  Aviation Intelligence Dashboard  |  Power BI &amp; 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Data Analytics Final Project —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DATA NORMALIZATION &amp; SQL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4864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F37"/>
                </a:solidFill>
                <a:latin typeface="Calibri"/>
              </a:rPr>
              <a:t>Table decomposition, 3NF normalization strategy and Oracle SQL analytical 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164592"/>
            <a:ext cx="1508760" cy="502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2011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D4A"/>
                </a:solidFill>
                <a:latin typeface="Calibri"/>
              </a:rPr>
              <a:t>SLIDE  5  /  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51560"/>
            <a:ext cx="1175004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70432"/>
            <a:ext cx="36576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kran görüntüsü 2026-03-15 0606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16152"/>
            <a:ext cx="3566160" cy="5029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62910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2D4A"/>
                </a:solidFill>
                <a:latin typeface="Calibri"/>
              </a:rPr>
              <a:t>Aviation_Project — Oracle SQL Tables &amp; 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1704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D4A"/>
                </a:solidFill>
                <a:latin typeface="Calibri"/>
              </a:rPr>
              <a:t>NORMALIZATION PROCESS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463040"/>
            <a:ext cx="781812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1536192"/>
            <a:ext cx="39776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Raw data arrived in a merged, unstructured format.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Following 3NF principles, tables were decomposed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into domain-specific normalized entities: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AIRCRAFT Group  —  6 tables: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AC_BASIC           Core specs — engine, avionics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AC_RANGE_ALT       Flight range &amp; altitude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AC_SPEED           Speed performance metrics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AC_ENGINE_METRICS  Fuel burn &amp; thrust data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AC_WEIGHTS         Payload &amp; max takeoff weight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AC_DIMENSIONS      Cabin area, wingspan metrics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AIRLINE Group  —  7 tables: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AL_FLEET           Fleet matrix (model, age, orders)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AL_IDENTITY        Ticker, currency, exchange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AL_FINANCE         Op. margin, debt, cash position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AL_INCOME_METRICS  Revenue, expenses, EBITDA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AL_MARKET          Market cap, P/E ratio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AL_METADATA        IATA, ICAO, country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AL_STOCK_PRICES    Daily OHLCV + rolling volatility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OIL Group  —  2 tables: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OIL_PRICES_MAIN     Brent &amp; WTI daily prices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OIL_PRICES_ANALYSIS Monthly averages, volatility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170432"/>
            <a:ext cx="3657600" cy="5166360"/>
          </a:xfrm>
          <a:prstGeom prst="rect">
            <a:avLst/>
          </a:prstGeom>
          <a:solidFill>
            <a:srgbClr val="FAF6EE"/>
          </a:solidFill>
          <a:ln w="12700">
            <a:solidFill>
              <a:srgbClr val="2E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2161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D4A"/>
                </a:solidFill>
                <a:latin typeface="Calibri"/>
              </a:rPr>
              <a:t>10 ANALYTICAL 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508760"/>
            <a:ext cx="3474720" cy="22860"/>
          </a:xfrm>
          <a:prstGeom prst="rect">
            <a:avLst/>
          </a:prstGeom>
          <a:solidFill>
            <a:srgbClr val="2E5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581912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SQL Features Used: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Window Functions (RANK, OVER)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Common Table Expressions (CTEs)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Multi-table JOINs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CASE / NULLIF / COALESCE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VW_FLEET_AGE_ANALYSIS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VW_AIRLINE_CAPACITY_RANKING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VW_MARKET_STOCK_OIL_TRENDS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VW_FINANCIAL_UNDERVALUED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VW_AIRCRAFT_FUEL_EFFICIENCY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VW_OPERATIONAL_DEBT_RISK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VW_FLEET_AGE_VS_EXPENSES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VW_FUTURE_FLEET_EXPANSION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VW_CABIN_COMFORT_METRICS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VW_STOCK_MOVING_AVERAGE_30D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AF37"/>
                </a:solidFill>
                <a:latin typeface="Calibri"/>
              </a:rPr>
              <a:t>Tural Burjaliyev  |  Aviation Intelligence Dashboard  |  Power BI &amp; 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Data Analytics Final Project —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96012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 Light"/>
              </a:rPr>
              <a:t>DATA MODELLING — Power BI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4864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F37"/>
                </a:solidFill>
                <a:latin typeface="Calibri"/>
              </a:rPr>
              <a:t>Snowflake schema design, table relationships and the Calendar dimension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164592"/>
            <a:ext cx="1508760" cy="502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2011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2D4A"/>
                </a:solidFill>
                <a:latin typeface="Calibri"/>
              </a:rPr>
              <a:t>SLIDE  6  /  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51560"/>
            <a:ext cx="11750040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70432"/>
            <a:ext cx="3474720" cy="5166360"/>
          </a:xfrm>
          <a:prstGeom prst="rect">
            <a:avLst/>
          </a:prstGeom>
          <a:solidFill>
            <a:srgbClr val="FAF6E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2161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D4A"/>
                </a:solidFill>
                <a:latin typeface="Calibri"/>
              </a:rPr>
              <a:t>SCHEMA HIGHLIGHTS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08760"/>
            <a:ext cx="3291840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581912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Schema Design: Snowflake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Fact tables at the centre;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dimension tables connected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via 1:N relationships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Table Groups: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AIRCRAFT  —  6 dimension tables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AIRLINE   —  7 fact/dimension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OIL       —  2 time-series tables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Join Keys: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AIRCRAFT_MODEL  (primary key)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  AC_BASIC -&gt; AC_SPEED,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  AC_WEIGHTS, AC_DIMENSIONS...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AIRLINE_NAME  (join key)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  AL_FLEET -&gt; AL_FINANCE...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Calendar Table: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Columns included: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• Date, Month, Year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• Quarter, Day of Week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• Month Name, Short Month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• Is_Week_Month (bool)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Why it was created: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To bridge stock price and oil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time-series tables, enabling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Power BI Time Intelligence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functions: YoY, MoM, rolling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2B2B2B"/>
                </a:solidFill>
                <a:latin typeface="Calibri"/>
              </a:rPr>
              <a:t>  averages and period slicers.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1170432"/>
            <a:ext cx="809244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kran görüntüsü 2026-03-15 0609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216152"/>
            <a:ext cx="8001000" cy="50292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AF37"/>
                </a:solidFill>
                <a:latin typeface="Calibri"/>
              </a:rPr>
              <a:t>Tural Burjaliyev  |  Aviation Intelligence Dashboard  |  Power BI &amp; 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Data Analytics Final Project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